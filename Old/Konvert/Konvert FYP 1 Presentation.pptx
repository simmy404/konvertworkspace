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embeddedFontLst>
    <p:embeddedFont>
      <p:font typeface="Int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B26962-C7E6-4F6B-AE59-3692E305D9F1}">
  <a:tblStyle styleId="{C8B26962-C7E6-4F6B-AE59-3692E305D9F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1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62025" y="1685925"/>
            <a:ext cx="1078134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Konvert – Smart Sales Engine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962025" y="2562225"/>
            <a:ext cx="10267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FYP 1 Presentation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62025" y="3084165"/>
            <a:ext cx="10267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[Developer 1 Name] | [Developer 2 Name]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62025" y="3606105"/>
            <a:ext cx="10267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[University Name] — [Department]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962025" y="4128045"/>
            <a:ext cx="10267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Supervisor: [Supervisor Name]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962025" y="4649985"/>
            <a:ext cx="1026795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[Date]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2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247775" y="1619250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Sales Representatives depend entirely on manual, fragmented workflows.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247775" y="249733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single tool unifies navigation, product ordering, and reporting.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47775" y="3055441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Field reps switch between 3–4 apps daily causing errors.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247775" y="361354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Management has no real-time visibility into rep activity.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47775" y="4171652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Bristol's existing process produces inconsistent reports and missed targets.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247775" y="5049738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unified, intelligent field-sales automation tool does not exist.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249733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62025" y="305544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62025" y="361354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62025" y="4171652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62025" y="5049738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What is Konvert?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3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 Flutter Android app built exclusively for Sales Representatives.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247775" y="217735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Automates complete field sales workflow from arrival to booking.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247775" y="2735460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Features embedded navigation and proximity-triggered ordering logic.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247775" y="361354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Connected to Almashreq Soft's Web CRM Portal via API.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247775" y="4171652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Built for Bristol's 8-tier sales hierarchy and operational requirements.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62025" y="273546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62025" y="361354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62025" y="4171652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6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Team and Stakeholders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4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962025" y="1619250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Development Team: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1939230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[Dev 1]: Frontend UI and Flutter screens.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62025" y="2449710"/>
            <a:ext cx="4848225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[Dev 2]: Backend, API integration, and architecture.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81750" y="1619250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Stakeholders: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81750" y="1939230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Bristol: Validated MVP and approved workflows.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381750" y="2449710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Almashreq Soft: Provides the Web CRM Portal.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What Makes Konvert Different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5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247775" y="1619250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 Performance Prediction: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On-device ML model trained on company data.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247775" y="2497335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 Tour Plan Enhancer: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Optimizes route order and target distribution.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1247775" y="3375421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Proximity-Triggered Fieldwork: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GPS geo-fence unlocks product selection on arrival.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247775" y="4253507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Embedded Maps: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Google Maps embedded natively to prevent app switching.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62025" y="249733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62025" y="337542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962025" y="4253507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How Konvert Compares</a:t>
            </a:r>
            <a:endParaRPr/>
          </a:p>
        </p:txBody>
      </p:sp>
      <p:graphicFrame>
        <p:nvGraphicFramePr>
          <p:cNvPr id="156" name="Google Shape;156;p18"/>
          <p:cNvGraphicFramePr/>
          <p:nvPr/>
        </p:nvGraphicFramePr>
        <p:xfrm>
          <a:off x="962025" y="1809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{C8B26962-C7E6-4F6B-AE59-3692E305D9F1}</a:tableStyleId>
              </a:tblPr>
              <a:tblGrid>
                <a:gridCol w="4213475"/>
                <a:gridCol w="2524575"/>
                <a:gridCol w="1493350"/>
                <a:gridCol w="2027050"/>
              </a:tblGrid>
              <a:tr h="55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Salesforce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Zoho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Konvert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5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CRM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In-App Navigation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Geo-Fencing Trigger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 Prediction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Offline-First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75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" name="Google Shape;157;p18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App Requirements Overview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7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962025" y="1619250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Delivered in MVP: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62025" y="1939230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FR-3 Domain Onboarding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962025" y="2259210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FR-8 Offline Architecture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962025" y="2579191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FR-17 Geo-Fencing Trigger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962025" y="2899171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FR-19 Product Selection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381750" y="1619250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Planned for FYP 2: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381750" y="1939230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FR-4 MFA Authentication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6381750" y="2259210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FR-9 AI Prediction Engine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6381750" y="2579191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FR-13 Tour Plan Creation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381750" y="2899171"/>
            <a:ext cx="48482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 FR-14 AI Tour Enhancer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Tools and Technologies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8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Flutter &amp; Dart for mobile application development.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1247775" y="217735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Almashreq REST API for CRM data integration.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1247775" y="273546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Google Maps API for native navigation services.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247775" y="329356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SQLite and Hive for offline data persistence.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247775" y="3851671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Riverpod for reactive state management across modules.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247775" y="4409777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Git and GitHub for collaborative version control.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962025" y="273546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962025" y="329356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962025" y="385167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62025" y="4409777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1"/>
          <p:cNvSpPr txBox="1"/>
          <p:nvPr/>
        </p:nvSpPr>
        <p:spPr>
          <a:xfrm>
            <a:off x="3000613" y="2792759"/>
            <a:ext cx="619077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What We Did in This MVP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2819400" y="3745259"/>
            <a:ext cx="65532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Process, decisions, and delivery — from analysis to working product.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2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MVP Process Overview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10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1247775" y="1619250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Phase 1: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Studied competitors and confirmed requirements with Bristol.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1247775" y="249733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Phase 2: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Built complete Figma wireframes and defined flow.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247775" y="3055441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Phase 3: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Tested API connection and native Maps embedding.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1247775" y="361354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Phase 4: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Developed core features using Clean Architecture.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1247775" y="4171652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Phase 5: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Performed end-to-end testing and bug resolution.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962025" y="249733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962025" y="305544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62025" y="361354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962025" y="4171652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User Flow and UX Prototype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11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Built flow before code to align developer understanding.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1247775" y="217735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Identified branches for error states and offline mode.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1247775" y="273546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Developed Figma prototype to finalize layout decisions.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247775" y="329356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Key Decision: Single-screen fieldwork combining map and data.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1247775" y="3851671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Resolved navigation decisions early to prevent development rework.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962025" y="273546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962025" y="329356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962025" y="385167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Key Development Decisions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12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Used Feature-first Clean Architecture for long-term scalability.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1247775" y="217735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Prioritized critical Sync and GPS modules in build order.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1247775" y="273546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Adopted Riverpod for cleaner reactive stream management.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1247775" y="329356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Implemented GPS moving average filter for low-end devices.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1247775" y="3851671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Used paginated batch sync to prevent memory overload.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3" name="Google Shape;243;p24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962025" y="273546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962025" y="329356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962025" y="385167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 txBox="1"/>
          <p:nvPr/>
        </p:nvSpPr>
        <p:spPr>
          <a:xfrm>
            <a:off x="3985736" y="2792759"/>
            <a:ext cx="4220527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Observed Output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3805237" y="3745259"/>
            <a:ext cx="45815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What worked, what broke, and what we learned.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Delivered and Working in MVP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14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Company domain connection and 8-tier hierarchy setup.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1247775" y="217735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Master Sync with UserID-filtered CRM data.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1247775" y="273546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Fieldwork screen with embedded Maps and live route.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1247775" y="329356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GPS geo-fence unlocking product selection on arrival.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1247775" y="3851671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Dynamic product selection with discount and bonus logic.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1247775" y="4409777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Offline transaction queuing for disconnected field operations.</a:t>
            </a:r>
            <a:endParaRPr/>
          </a:p>
        </p:txBody>
      </p:sp>
      <p:sp>
        <p:nvSpPr>
          <p:cNvPr id="266" name="Google Shape;266;p26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7" name="Google Shape;267;p26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962025" y="273546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962025" y="329356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0" name="Google Shape;270;p26"/>
          <p:cNvSpPr txBox="1"/>
          <p:nvPr/>
        </p:nvSpPr>
        <p:spPr>
          <a:xfrm>
            <a:off x="962025" y="385167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71" name="Google Shape;271;p26"/>
          <p:cNvSpPr txBox="1"/>
          <p:nvPr/>
        </p:nvSpPr>
        <p:spPr>
          <a:xfrm>
            <a:off x="962025" y="4409777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Challenges and Solutions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15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Issue: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Map rendering conflict inside Flutter scroll view.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1247775" y="2177355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Implemented fixed-height non-scrollable container with overlays.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1247775" y="3055441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Issue: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GPS false triggers on low-end devices.</a:t>
            </a:r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1247775" y="361354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Added 5-reading moving average filter for accuracy.</a:t>
            </a:r>
            <a:endParaRPr/>
          </a:p>
        </p:txBody>
      </p:sp>
      <p:sp>
        <p:nvSpPr>
          <p:cNvPr id="282" name="Google Shape;282;p27"/>
          <p:cNvSpPr txBox="1"/>
          <p:nvPr/>
        </p:nvSpPr>
        <p:spPr>
          <a:xfrm>
            <a:off x="1247775" y="4171652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Issue: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Sync timeout on 2GB RAM devices.</a:t>
            </a:r>
            <a:endParaRPr/>
          </a:p>
        </p:txBody>
      </p:sp>
      <p:sp>
        <p:nvSpPr>
          <p:cNvPr id="283" name="Google Shape;283;p27"/>
          <p:cNvSpPr txBox="1"/>
          <p:nvPr/>
        </p:nvSpPr>
        <p:spPr>
          <a:xfrm>
            <a:off x="1247775" y="4729757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Fix: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Introduced paginated batch synchronization protocol.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962025" y="305544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962025" y="361354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962025" y="4171652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89" name="Google Shape;289;p27"/>
          <p:cNvSpPr txBox="1"/>
          <p:nvPr/>
        </p:nvSpPr>
        <p:spPr>
          <a:xfrm>
            <a:off x="962025" y="4729757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Gaps and Future Improvements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16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Multi-Factor Authentication (MFA) implemented in MVP.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1247775" y="217735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notification system for admin approval alerts.</a:t>
            </a: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1247775" y="273546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Tour plan customers were hardcoded; lacks weekly scheduling.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1247775" y="329356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Sync engine aborts on single module failure; needs retries.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1247775" y="3851671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Geo-fence check ran on main thread; needs backgrounding.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962025" y="273546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962025" y="329356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962025" y="385167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9"/>
          <p:cNvSpPr txBox="1"/>
          <p:nvPr/>
        </p:nvSpPr>
        <p:spPr>
          <a:xfrm>
            <a:off x="4250769" y="2792759"/>
            <a:ext cx="369046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After This MVP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752850" y="3745259"/>
            <a:ext cx="46863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What we completed after the build to close FYP 1.</a:t>
            </a:r>
            <a:endParaRPr/>
          </a:p>
        </p:txBody>
      </p:sp>
      <p:sp>
        <p:nvSpPr>
          <p:cNvPr id="312" name="Google Shape;312;p29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0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What We Completed After MVP</a:t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18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Produced DFD Level 0, 1, and 2 diagrams.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1247775" y="217735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Designed Class Diagrams across 6 system modules.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1247775" y="273546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Created high-level ER Diagram for CRM schema alignment.</a:t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1247775" y="329356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Drafted 6 Collaboration Diagrams for core system processes.</a:t>
            </a:r>
            <a:endParaRPr/>
          </a:p>
        </p:txBody>
      </p:sp>
      <p:sp>
        <p:nvSpPr>
          <p:cNvPr id="323" name="Google Shape;323;p30"/>
          <p:cNvSpPr txBox="1"/>
          <p:nvPr/>
        </p:nvSpPr>
        <p:spPr>
          <a:xfrm>
            <a:off x="1247775" y="3851671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Refined User Flow based on actual development findings.</a:t>
            </a:r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1247775" y="4409777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Established a finalized roadmap for FYP 2 implementation.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962025" y="273546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962025" y="329356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962025" y="385167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962025" y="4409777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FYP 1 — What Was Achieved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19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Successful stakeholder collaboration with Bristol meetings.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1247775" y="217735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Core fieldwork loop is 100% functional end-to-end.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1247775" y="273546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Novelty features validated at prototype and MVP level.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1247775" y="329356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Technical challenges of GPS and Sync resolved.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1247775" y="3851671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✅ Clean architectural foundation prepared for FYP 2 expansion.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4" name="Google Shape;344;p31"/>
          <p:cNvSpPr txBox="1"/>
          <p:nvPr/>
        </p:nvSpPr>
        <p:spPr>
          <a:xfrm>
            <a:off x="962025" y="273546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962025" y="329356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6" name="Google Shape;346;p31"/>
          <p:cNvSpPr txBox="1"/>
          <p:nvPr/>
        </p:nvSpPr>
        <p:spPr>
          <a:xfrm>
            <a:off x="962025" y="385167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2"/>
          <p:cNvSpPr txBox="1"/>
          <p:nvPr/>
        </p:nvSpPr>
        <p:spPr>
          <a:xfrm>
            <a:off x="3150631" y="2792759"/>
            <a:ext cx="589073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What's Coming in FYP 2</a:t>
            </a:r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3567112" y="3745259"/>
            <a:ext cx="50577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full system — built on the established foundation.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FYP 2 — Requirements Plan</a:t>
            </a:r>
            <a:endParaRPr/>
          </a:p>
        </p:txBody>
      </p:sp>
      <p:sp>
        <p:nvSpPr>
          <p:cNvPr id="359" name="Google Shape;359;p33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21</a:t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Startup checks and Google Authenticator MFA.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1247775" y="217735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Intelligence: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AI Performance Prediction and TourPlanHelper.</a:t>
            </a:r>
            <a:endParaRPr/>
          </a:p>
        </p:txBody>
      </p:sp>
      <p:sp>
        <p:nvSpPr>
          <p:cNvPr id="362" name="Google Shape;362;p33"/>
          <p:cNvSpPr txBox="1"/>
          <p:nvPr/>
        </p:nvSpPr>
        <p:spPr>
          <a:xfrm>
            <a:off x="1247775" y="2735460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Workflow: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Expense budgets and management approval workflows.</a:t>
            </a:r>
            <a:endParaRPr/>
          </a:p>
        </p:txBody>
      </p:sp>
      <p:sp>
        <p:nvSpPr>
          <p:cNvPr id="363" name="Google Shape;363;p33"/>
          <p:cNvSpPr txBox="1"/>
          <p:nvPr/>
        </p:nvSpPr>
        <p:spPr>
          <a:xfrm>
            <a:off x="1247775" y="361354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Sync: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Real-time bi-directional Firebase Firestore integration.</a:t>
            </a:r>
            <a:endParaRPr/>
          </a:p>
        </p:txBody>
      </p:sp>
      <p:sp>
        <p:nvSpPr>
          <p:cNvPr id="364" name="Google Shape;364;p33"/>
          <p:cNvSpPr txBox="1"/>
          <p:nvPr/>
        </p:nvSpPr>
        <p:spPr>
          <a:xfrm>
            <a:off x="1247775" y="4171652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Reporting:</a:t>
            </a: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Advanced module with granular filtering capabilities.</a:t>
            </a:r>
            <a:endParaRPr/>
          </a:p>
        </p:txBody>
      </p:sp>
      <p:sp>
        <p:nvSpPr>
          <p:cNvPr id="365" name="Google Shape;365;p33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6" name="Google Shape;366;p33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7" name="Google Shape;367;p33"/>
          <p:cNvSpPr txBox="1"/>
          <p:nvPr/>
        </p:nvSpPr>
        <p:spPr>
          <a:xfrm>
            <a:off x="962025" y="273546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8" name="Google Shape;368;p33"/>
          <p:cNvSpPr txBox="1"/>
          <p:nvPr/>
        </p:nvSpPr>
        <p:spPr>
          <a:xfrm>
            <a:off x="962025" y="361354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962025" y="4171652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4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FYP 2 — Quality Standards</a:t>
            </a:r>
            <a:endParaRPr/>
          </a:p>
        </p:txBody>
      </p:sp>
      <p:sp>
        <p:nvSpPr>
          <p:cNvPr id="375" name="Google Shape;375;p34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22</a:t>
            </a:r>
            <a:endParaRPr/>
          </a:p>
        </p:txBody>
      </p:sp>
      <p:sp>
        <p:nvSpPr>
          <p:cNvPr id="376" name="Google Shape;376;p34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NFR-2: Battery consumption under 15% over 8-hour shift.</a:t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1247775" y="217735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NFR-5: TLS 1.3 transit and AES-256 local encryption.</a:t>
            </a:r>
            <a:endParaRPr/>
          </a:p>
        </p:txBody>
      </p:sp>
      <p:sp>
        <p:nvSpPr>
          <p:cNvPr id="378" name="Google Shape;378;p34"/>
          <p:cNvSpPr txBox="1"/>
          <p:nvPr/>
        </p:nvSpPr>
        <p:spPr>
          <a:xfrm>
            <a:off x="1247775" y="273546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NFR-7: Support for 5,000+ concurrent field agents.</a:t>
            </a:r>
            <a:endParaRPr/>
          </a:p>
        </p:txBody>
      </p:sp>
      <p:sp>
        <p:nvSpPr>
          <p:cNvPr id="379" name="Google Shape;379;p34"/>
          <p:cNvSpPr txBox="1"/>
          <p:nvPr/>
        </p:nvSpPr>
        <p:spPr>
          <a:xfrm>
            <a:off x="1247775" y="329356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NFR-9: Continued compatibility with low-end (2GB RAM) devices.</a:t>
            </a:r>
            <a:endParaRPr/>
          </a:p>
        </p:txBody>
      </p:sp>
      <p:sp>
        <p:nvSpPr>
          <p:cNvPr id="380" name="Google Shape;380;p34"/>
          <p:cNvSpPr txBox="1"/>
          <p:nvPr/>
        </p:nvSpPr>
        <p:spPr>
          <a:xfrm>
            <a:off x="1247775" y="3851671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NFR-10: UX compliance with core tasks in 3 taps.</a:t>
            </a:r>
            <a:endParaRPr/>
          </a:p>
        </p:txBody>
      </p:sp>
      <p:sp>
        <p:nvSpPr>
          <p:cNvPr id="381" name="Google Shape;381;p34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2" name="Google Shape;382;p34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3" name="Google Shape;383;p34"/>
          <p:cNvSpPr txBox="1"/>
          <p:nvPr/>
        </p:nvSpPr>
        <p:spPr>
          <a:xfrm>
            <a:off x="962025" y="273546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4" name="Google Shape;384;p34"/>
          <p:cNvSpPr txBox="1"/>
          <p:nvPr/>
        </p:nvSpPr>
        <p:spPr>
          <a:xfrm>
            <a:off x="962025" y="329356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85" name="Google Shape;385;p34"/>
          <p:cNvSpPr txBox="1"/>
          <p:nvPr/>
        </p:nvSpPr>
        <p:spPr>
          <a:xfrm>
            <a:off x="962025" y="3851671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5"/>
          <p:cNvSpPr txBox="1"/>
          <p:nvPr/>
        </p:nvSpPr>
        <p:spPr>
          <a:xfrm>
            <a:off x="962025" y="771525"/>
            <a:ext cx="10781347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23</a:t>
            </a:r>
            <a:endParaRPr/>
          </a:p>
        </p:txBody>
      </p:sp>
      <p:sp>
        <p:nvSpPr>
          <p:cNvPr id="392" name="Google Shape;392;p35"/>
          <p:cNvSpPr txBox="1"/>
          <p:nvPr/>
        </p:nvSpPr>
        <p:spPr>
          <a:xfrm>
            <a:off x="1247775" y="1619250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Konvert addresses a validated real-world gap in field sales.</a:t>
            </a:r>
            <a:endParaRPr/>
          </a:p>
        </p:txBody>
      </p:sp>
      <p:sp>
        <p:nvSpPr>
          <p:cNvPr id="393" name="Google Shape;393;p35"/>
          <p:cNvSpPr txBox="1"/>
          <p:nvPr/>
        </p:nvSpPr>
        <p:spPr>
          <a:xfrm>
            <a:off x="1247775" y="2177355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MVP proved that high-risk fieldwork features work reliably.</a:t>
            </a:r>
            <a:endParaRPr/>
          </a:p>
        </p:txBody>
      </p:sp>
      <p:sp>
        <p:nvSpPr>
          <p:cNvPr id="394" name="Google Shape;394;p35"/>
          <p:cNvSpPr txBox="1"/>
          <p:nvPr/>
        </p:nvSpPr>
        <p:spPr>
          <a:xfrm>
            <a:off x="1247775" y="2735460"/>
            <a:ext cx="638175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Three novelty features differentiate Konvert from existing competitors.</a:t>
            </a:r>
            <a:endParaRPr/>
          </a:p>
        </p:txBody>
      </p:sp>
      <p:sp>
        <p:nvSpPr>
          <p:cNvPr id="395" name="Google Shape;395;p35"/>
          <p:cNvSpPr txBox="1"/>
          <p:nvPr/>
        </p:nvSpPr>
        <p:spPr>
          <a:xfrm>
            <a:off x="1247775" y="3613546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FYP 1 ends with resolved architecture and full documentation.</a:t>
            </a:r>
            <a:endParaRPr/>
          </a:p>
        </p:txBody>
      </p:sp>
      <p:sp>
        <p:nvSpPr>
          <p:cNvPr id="396" name="Google Shape;396;p35"/>
          <p:cNvSpPr txBox="1"/>
          <p:nvPr/>
        </p:nvSpPr>
        <p:spPr>
          <a:xfrm>
            <a:off x="1247775" y="4171652"/>
            <a:ext cx="638175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FYP 2 will deliver intelligence, security, and full reporting.</a:t>
            </a:r>
            <a:endParaRPr/>
          </a:p>
        </p:txBody>
      </p:sp>
      <p:sp>
        <p:nvSpPr>
          <p:cNvPr id="397" name="Google Shape;397;p35"/>
          <p:cNvSpPr txBox="1"/>
          <p:nvPr/>
        </p:nvSpPr>
        <p:spPr>
          <a:xfrm>
            <a:off x="962025" y="161925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8" name="Google Shape;398;p35"/>
          <p:cNvSpPr txBox="1"/>
          <p:nvPr/>
        </p:nvSpPr>
        <p:spPr>
          <a:xfrm>
            <a:off x="962025" y="2177355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99" name="Google Shape;399;p35"/>
          <p:cNvSpPr txBox="1"/>
          <p:nvPr/>
        </p:nvSpPr>
        <p:spPr>
          <a:xfrm>
            <a:off x="962025" y="2735460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0" name="Google Shape;400;p35"/>
          <p:cNvSpPr txBox="1"/>
          <p:nvPr/>
        </p:nvSpPr>
        <p:spPr>
          <a:xfrm>
            <a:off x="962025" y="3613546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1" name="Google Shape;401;p35"/>
          <p:cNvSpPr txBox="1"/>
          <p:nvPr/>
        </p:nvSpPr>
        <p:spPr>
          <a:xfrm>
            <a:off x="962025" y="4171652"/>
            <a:ext cx="114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 txBox="1"/>
          <p:nvPr/>
        </p:nvSpPr>
        <p:spPr>
          <a:xfrm>
            <a:off x="4800838" y="2122289"/>
            <a:ext cx="259032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00B4D8"/>
                </a:solidFill>
                <a:latin typeface="Inter"/>
                <a:ea typeface="Inter"/>
                <a:cs typeface="Inter"/>
                <a:sym typeface="Inter"/>
              </a:rPr>
              <a:t>Thank You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4881562" y="3074789"/>
            <a:ext cx="24288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Questions and Discussion</a:t>
            </a:r>
            <a:endParaRPr/>
          </a:p>
        </p:txBody>
      </p:sp>
      <p:sp>
        <p:nvSpPr>
          <p:cNvPr id="408" name="Google Shape;408;p36"/>
          <p:cNvSpPr txBox="1"/>
          <p:nvPr/>
        </p:nvSpPr>
        <p:spPr>
          <a:xfrm>
            <a:off x="962025" y="6276975"/>
            <a:ext cx="1026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Konvert – FYP 1 24</a:t>
            </a:r>
            <a:endParaRPr/>
          </a:p>
        </p:txBody>
      </p:sp>
      <p:sp>
        <p:nvSpPr>
          <p:cNvPr id="409" name="Google Shape;409;p36"/>
          <p:cNvSpPr txBox="1"/>
          <p:nvPr/>
        </p:nvSpPr>
        <p:spPr>
          <a:xfrm>
            <a:off x="4471987" y="3775769"/>
            <a:ext cx="32480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Konvert – Smart Sales Engine</a:t>
            </a:r>
            <a:endParaRPr/>
          </a:p>
        </p:txBody>
      </p:sp>
      <p:sp>
        <p:nvSpPr>
          <p:cNvPr id="410" name="Google Shape;410;p36"/>
          <p:cNvSpPr txBox="1"/>
          <p:nvPr/>
        </p:nvSpPr>
        <p:spPr>
          <a:xfrm>
            <a:off x="4471987" y="4095750"/>
            <a:ext cx="32480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[Developer 1] | [Developer 2]</a:t>
            </a:r>
            <a:endParaRPr/>
          </a:p>
        </p:txBody>
      </p:sp>
      <p:sp>
        <p:nvSpPr>
          <p:cNvPr id="411" name="Google Shape;411;p36"/>
          <p:cNvSpPr txBox="1"/>
          <p:nvPr/>
        </p:nvSpPr>
        <p:spPr>
          <a:xfrm>
            <a:off x="4471987" y="4415730"/>
            <a:ext cx="324802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Supervised by: [Supervisor Name]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