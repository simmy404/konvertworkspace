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  SST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" y="96012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960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Konvert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21792" y="2788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Salesmen Tracking System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12700">
            <a:solidFill>
              <a:srgbClr val="3B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15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Rana Obaid Ur Rehman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000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Asim Bashir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0840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Farheen Azhar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4315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Ahsan Arshad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47000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Amin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Systems and Technology  ·  University of Management and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Konvert?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EDF3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pharma field sales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that helps pharmaceutical salesmen do their daily work digitally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pharma distribution companies, such as Hassan Pharma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order taking with a tap-and-submit digital system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ordering, route planning, progress tracking, and data sync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both Android and iPhone from a single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Salesmen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0" y="22585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— take orders, visit customers, follow daily plans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0" y="3355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performance, review reports, track targets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49440" y="4453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big picture — top products, best-performing areas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Admin Staff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5550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company accounts and manage configuration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BEE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C144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Salesmen still use pen and paper to take orders — slow, and mistakes happen often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have no real-time visibility into field activity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visits: without GPS, a salesman can claim a visit that never happened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orders: paperwork and phone calls get forgotten or delayed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— sales data scattered across notebooks, WhatsApp, calls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9F5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59752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Konvert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392" y="23317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digital — replace notebooks with a clean app workflow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salesmen honestly with GPS-verified orders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managers live dashboards for sales, targets, and team performance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data — orders save on-device first, then sync when online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secure with multiple layers of login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Must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18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679192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connection via a unique domain + secret key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6130" y="1417320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4EEF3"/>
          </a:solidFill>
          <a:ln/>
        </p:spPr>
      </p:sp>
      <p:sp>
        <p:nvSpPr>
          <p:cNvPr id="10" name="Shape 8"/>
          <p:cNvSpPr/>
          <p:nvPr/>
        </p:nvSpPr>
        <p:spPr>
          <a:xfrm>
            <a:off x="3527298" y="1618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2729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7298" y="2194560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Verification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7298" y="2679192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Authenticator code after password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1417320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D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6228" y="1618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9622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6228" y="2194560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96228" y="2679192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face, or PIN each time app reopens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63990" y="1417320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4EE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265158" y="1618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26515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65158" y="2194560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GPS-Tracked Orders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65158" y="2679192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 logged with every order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63924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D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41650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" y="4741164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Plans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8368" y="5225796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visit schedule with mapped stops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26130" y="3963924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4EEF3"/>
          </a:solidFill>
          <a:ln/>
        </p:spPr>
      </p:sp>
      <p:sp>
        <p:nvSpPr>
          <p:cNvPr id="30" name="Shape 28"/>
          <p:cNvSpPr/>
          <p:nvPr/>
        </p:nvSpPr>
        <p:spPr>
          <a:xfrm>
            <a:off x="3527298" y="41650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3527298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27298" y="4741164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27298" y="5225796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charts, top products, target progress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5060" y="3963924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DF3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6228" y="41650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396228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96228" y="4741164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96228" y="5225796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works without internet; syncs later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63990" y="3963924"/>
            <a:ext cx="2667762" cy="2345436"/>
          </a:xfrm>
          <a:prstGeom prst="roundRect">
            <a:avLst>
              <a:gd name="adj" fmla="val 3119"/>
            </a:avLst>
          </a:prstGeom>
          <a:solidFill>
            <a:srgbClr val="E4EEF3"/>
          </a:solidFill>
          <a:ln/>
        </p:spPr>
      </p:sp>
      <p:sp>
        <p:nvSpPr>
          <p:cNvPr id="40" name="Shape 38"/>
          <p:cNvSpPr/>
          <p:nvPr/>
        </p:nvSpPr>
        <p:spPr>
          <a:xfrm>
            <a:off x="9265158" y="41650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9265158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265158" y="4741164"/>
            <a:ext cx="2265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65158" y="5225796"/>
            <a:ext cx="226542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reminders and target-update alerts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Quality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949440" cy="4297680"/>
        </p:xfrm>
        <a:graphic>
          <a:graphicData uri="http://schemas.openxmlformats.org/drawingml/2006/table">
            <a:tbl>
              <a:tblPr/>
              <a:tblGrid>
                <a:gridCol w="1691640"/>
                <a:gridCol w="233172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(Dart)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codebase for Android + 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UI in sync with data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orders, products, customers offline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scripts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data sync, order uploads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all company data centrally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Authenticator + Biometrics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 2FA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&amp; GPS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+ GPS sensors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 and visit-proximity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Expectations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35240" y="18745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8" name="Shape 5"/>
          <p:cNvSpPr/>
          <p:nvPr/>
        </p:nvSpPr>
        <p:spPr>
          <a:xfrm>
            <a:off x="7799832" y="199339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1929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0" y="22037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under 2s; sync finishes within 30s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635240" y="2715768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4EE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799832" y="283464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7799832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124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412480" y="3044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passwords, multi-factor login, GPS enforcement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35240" y="355701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99832" y="36758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799832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12480" y="3886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keeps data safe with no internet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43982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4EEF3"/>
          </a:solidFill>
          <a:ln/>
        </p:spPr>
      </p:sp>
      <p:sp>
        <p:nvSpPr>
          <p:cNvPr id="23" name="Shape 20"/>
          <p:cNvSpPr/>
          <p:nvPr/>
        </p:nvSpPr>
        <p:spPr>
          <a:xfrm>
            <a:off x="7799832" y="45171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7799832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12480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412480" y="472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serves many pharma companies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635240" y="523951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28" name="Shape 25"/>
          <p:cNvSpPr/>
          <p:nvPr/>
        </p:nvSpPr>
        <p:spPr>
          <a:xfrm>
            <a:off x="7799832" y="53583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7799832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12480" y="5294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12480" y="55686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runs on Android and iOS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Prototyping &amp; Navigation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 process — 15 complete screen mockups before writing any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703320" y="1874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076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464040" y="1874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788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Order-taking workflow validated with real pharmaceutical products — Augmentin, Panadol, Cefspan, and more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Navigation Flow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82496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33372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1833372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58668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9544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9544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5716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28" name="Text 26"/>
          <p:cNvSpPr/>
          <p:nvPr/>
        </p:nvSpPr>
        <p:spPr>
          <a:xfrm>
            <a:off x="4585716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11012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61888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87184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38060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34" name="Text 32"/>
          <p:cNvSpPr/>
          <p:nvPr/>
        </p:nvSpPr>
        <p:spPr>
          <a:xfrm>
            <a:off x="7338060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63356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714232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37" name="Text 35"/>
          <p:cNvSpPr/>
          <p:nvPr/>
        </p:nvSpPr>
        <p:spPr>
          <a:xfrm>
            <a:off x="8714232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39528" y="3794760"/>
            <a:ext cx="169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090404" y="3794760"/>
            <a:ext cx="1243584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10090404" y="37947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92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37360" y="4892040"/>
            <a:ext cx="90525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4892040"/>
            <a:ext cx="905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25496" y="4892040"/>
            <a:ext cx="1307592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2825496" y="48920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15968" y="489204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4315968" y="4892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Plan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07024" y="489204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5907024" y="48920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features: Place New Order  ·  Profile Settings  ·  Notifications  ·  Activity History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System &amp; UI Design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Visual Modes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7568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E7CB1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light theme with blue accents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349300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3493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9164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Sleek dark theme, vibrant highlights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49103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4910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91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phone's light / dark setting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Theme Manager switches all colors, images, and assets instantly across the app.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UI Premium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18653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navigation bar with animated selection indicators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73405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3D-style illustrations on login, sync, and lock screens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60273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color palettes — dark: navy, electric blue, violet; light: cloud white, royal blue, teal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09160" y="45262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44714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page transitions — screens fade and slide rather than just appearing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09160" y="53949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53400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map styling — even Google Maps matches the app's theme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 Designs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892040"/>
        </p:xfrm>
        <a:graphic>
          <a:graphicData uri="http://schemas.openxmlformats.org/drawingml/2006/table">
            <a:tbl>
              <a:tblPr/>
              <a:tblGrid>
                <a:gridCol w="2468880"/>
                <a:gridCol w="8805672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Highlights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Animated video intro that adapts to light/dark 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Full-screen video background with a clear call-to-action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key illustration + fields for company URL and access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Two-step design — credentials, then authenticator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Swipeable tabs with gradient stat cards and quick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Searchable list with filters and collapsible order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map with customer pins and proximity circles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charts for trends, top-5 rankings, weekly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 of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490472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Verification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20640" y="1490472"/>
            <a:ext cx="6446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verifies the company's web address and secret access key 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125E8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4505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640" y="2386584"/>
            <a:ext cx="6446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login; passwords encrypted before transmission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33467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282696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20640" y="3282696"/>
            <a:ext cx="6446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6-digit, time-based code from Google Authenticator, refreshes every 30s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05656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2E8F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42428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178808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/ Device Lock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20640" y="4178808"/>
            <a:ext cx="6446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face, or phone PIN required every time the app reopens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001768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51389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074920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Enforcement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20640" y="5074920"/>
            <a:ext cx="6446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salesman is physically near the customer before an order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SHA-256  ·  Codes accepted within a ±30-second window  ·  Device-specific security seeds  ·  Same method used by Google, Microsoft, and major banks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APP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83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 — Splash, Login, Dashboard, Bookings…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125E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3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Models &amp; Managers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logic, theme switching, security, GPS, errors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communication, phone database, notifications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2E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330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4074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shapes — users, orders, reports, tour plans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828032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828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PHP + MySQL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1572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server handles login, sync, uploads centrally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App Launch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176479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Flutter's core framework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24871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24231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global error catching, so crashes are logged, not silent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0840" y="31455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308152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saved settings — theme, login state, preferences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38039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373989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stale cache if the app version has changed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44622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69480" y="439826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GPS, notifications, and Terms-of-Service check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20840" y="5120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9480" y="505663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splash animation and launch the dashboard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APP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Works Offline &amp;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DF3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Always Available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local database lives on the phone — products, customers, areas, orders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“Master Sync” pulls the latest data on first login or each new day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writes happen in safe batches — an interrupted download can't corrupt old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Work in 3 Tiers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605272" cy="868680"/>
          </a:xfrm>
          <a:prstGeom prst="roundRect">
            <a:avLst>
              <a:gd name="adj" fmla="val 8421"/>
            </a:avLst>
          </a:prstGeom>
          <a:solidFill>
            <a:srgbClr val="E4EEF3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1965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fresh data from the company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017520"/>
            <a:ext cx="560527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3017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internet? Calculate the same report from local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4069080"/>
            <a:ext cx="5605272" cy="868680"/>
          </a:xfrm>
          <a:prstGeom prst="roundRect">
            <a:avLst>
              <a:gd name="adj" fmla="val 8421"/>
            </a:avLst>
          </a:prstGeom>
          <a:solidFill>
            <a:srgbClr val="E4EE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4251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4069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install with no data? Show realistic sample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5166360"/>
            <a:ext cx="5605272" cy="594360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5166360"/>
            <a:ext cx="5605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app never shows a blank screen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APP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Order Booking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93976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1229868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2986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Area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834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brick / territory from the list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51176" y="1554480"/>
            <a:ext cx="201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52344" y="1554480"/>
            <a:ext cx="2093976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3525012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501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43784" y="246888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Customer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62072" y="2834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GPS proximity (geofencing)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201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47488" y="1554480"/>
            <a:ext cx="2093976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20156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82015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246888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2834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Quantities, bonus items, discounts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41464" y="1554480"/>
            <a:ext cx="201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42632" y="1554480"/>
            <a:ext cx="2093976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11530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1153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34072" y="246888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2834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order summary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36608" y="1554480"/>
            <a:ext cx="201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37776" y="1554480"/>
            <a:ext cx="2093976" cy="1920240"/>
          </a:xfrm>
          <a:prstGeom prst="roundRect">
            <a:avLst>
              <a:gd name="adj" fmla="val 3810"/>
            </a:avLst>
          </a:prstGeom>
          <a:solidFill>
            <a:srgbClr val="E9F5F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10444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044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9216" y="246888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47504" y="2834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locally with GPS + timestamp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E4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9776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5800" y="4315968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salesman is physically near the shop — too far, and the customer shows as unreachable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1584" y="379476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E4EEF3"/>
          </a:solidFill>
          <a:ln/>
        </p:spPr>
      </p:sp>
      <p:sp>
        <p:nvSpPr>
          <p:cNvPr id="37" name="Text 35"/>
          <p:cNvSpPr/>
          <p:nvPr/>
        </p:nvSpPr>
        <p:spPr>
          <a:xfrm>
            <a:off x="4520184" y="39776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20184" y="4315968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Salesmen capture shelf photos or receipts as visit evidence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25968" y="3794760"/>
            <a:ext cx="3605784" cy="1965960"/>
          </a:xfrm>
          <a:prstGeom prst="roundRect">
            <a:avLst>
              <a:gd name="adj" fmla="val 3721"/>
            </a:avLst>
          </a:prstGeom>
          <a:solidFill>
            <a:srgbClr val="E4EEF3"/>
          </a:solidFill>
          <a:ln/>
        </p:spPr>
      </p:sp>
      <p:sp>
        <p:nvSpPr>
          <p:cNvPr id="40" name="Text 38"/>
          <p:cNvSpPr/>
          <p:nvPr/>
        </p:nvSpPr>
        <p:spPr>
          <a:xfrm>
            <a:off x="8354568" y="39776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354568" y="4315968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accumulate on-device and upload together on sync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APP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Dashboard, Reports &amp; Multi-Company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Swipeable Dashboard Tabs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EDF3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29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gross/net sales, orders, active customers, fulfillment rate, target progress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E4EEF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1455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358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30358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saved orders — searchable, filterable, grouped by invoice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59936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ED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26110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Plan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46120" y="415137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of today's customers with distance indicators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175504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E4EE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376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2669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46120" y="526694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trend chart, top products/customers, area breakdown, weekly heatmap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Support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0" y="18288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EDF3F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057400"/>
            <a:ext cx="3703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serves many pharma companies — each enters its own server address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company web address + API key; the app verifies it with that server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all products, customers, and orders come from that company's database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switch companies right from the login screen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company's data stays completely isolated and independent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Prediction Model — What &amp; Why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Answers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ED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299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this salesman’s probability of hitting their weekly target?”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had no way to know until the week was already over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gives an early-warning score, refreshed weekly on the dashboard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intervene early — reassign routes, offer support, or adjust targets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1524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144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2936" y="5230368"/>
            <a:ext cx="201168" cy="201168"/>
          </a:xfrm>
          <a:prstGeom prst="ellipse">
            <a:avLst/>
          </a:prstGeom>
          <a:solidFill>
            <a:srgbClr val="C144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486400"/>
            <a:ext cx="143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779008"/>
            <a:ext cx="143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92680" y="5074920"/>
            <a:ext cx="1524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D19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54096" y="5230368"/>
            <a:ext cx="201168" cy="201168"/>
          </a:xfrm>
          <a:prstGeom prst="ellipse">
            <a:avLst/>
          </a:prstGeom>
          <a:solidFill>
            <a:srgbClr val="D1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2438400" y="5486400"/>
            <a:ext cx="143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38400" y="5779008"/>
            <a:ext cx="143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53840" y="5074920"/>
            <a:ext cx="1524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E9E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5256" y="5230368"/>
            <a:ext cx="201168" cy="201168"/>
          </a:xfrm>
          <a:prstGeom prst="ellipse">
            <a:avLst/>
          </a:prstGeom>
          <a:solidFill>
            <a:srgbClr val="0E9E6F"/>
          </a:solidFill>
          <a:ln/>
        </p:spPr>
      </p:sp>
      <p:sp>
        <p:nvSpPr>
          <p:cNvPr id="18" name="Text 16"/>
          <p:cNvSpPr/>
          <p:nvPr/>
        </p:nvSpPr>
        <p:spPr>
          <a:xfrm>
            <a:off x="4099560" y="5486400"/>
            <a:ext cx="143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99560" y="5779008"/>
            <a:ext cx="143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well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141732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 That Feed the Model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1874520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91072" y="199339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Call Volume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visited per week, from the bookings table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126480" y="271576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4EEF3"/>
          </a:solidFill>
          <a:ln/>
        </p:spPr>
      </p:sp>
      <p:sp>
        <p:nvSpPr>
          <p:cNvPr id="27" name="Shape 25"/>
          <p:cNvSpPr/>
          <p:nvPr/>
        </p:nvSpPr>
        <p:spPr>
          <a:xfrm>
            <a:off x="6291072" y="283464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that became orders ÷ planned visits on the tour plan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126480" y="3557016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291072" y="36758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8770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value ÷ number of invoices for the week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126480" y="439826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4EEF3"/>
          </a:solidFill>
          <a:ln/>
        </p:spPr>
      </p:sp>
      <p:sp>
        <p:nvSpPr>
          <p:cNvPr id="37" name="Shape 35"/>
          <p:cNvSpPr/>
          <p:nvPr/>
        </p:nvSpPr>
        <p:spPr>
          <a:xfrm>
            <a:off x="6291072" y="45171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Adherence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03720" y="47183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brick/customers vs. where orders were actually booked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6126480" y="5239512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/>
        </p:spPr>
      </p:sp>
      <p:sp>
        <p:nvSpPr>
          <p:cNvPr id="42" name="Shape 40"/>
          <p:cNvSpPr/>
          <p:nvPr/>
        </p:nvSpPr>
        <p:spPr>
          <a:xfrm>
            <a:off x="6291072" y="53583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3720" y="5294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03720" y="55595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visited ÷ customers assigned to that salesman</a:t>
            </a:r>
            <a:endParaRPr lang="en-US" sz="970" dirty="0"/>
          </a:p>
        </p:txBody>
      </p:sp>
      <p:sp>
        <p:nvSpPr>
          <p:cNvPr id="46" name="Text 44"/>
          <p:cNvSpPr/>
          <p:nvPr/>
        </p:nvSpPr>
        <p:spPr>
          <a:xfrm>
            <a:off x="6126480" y="610819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values are normalized to a 0–1 scale so the model weighs them equally.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Prediction Model —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96084" y="13716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60676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</p:spPr>
      </p:sp>
      <p:sp>
        <p:nvSpPr>
          <p:cNvPr id="8" name="Text 6"/>
          <p:cNvSpPr/>
          <p:nvPr/>
        </p:nvSpPr>
        <p:spPr>
          <a:xfrm>
            <a:off x="2406396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99560" y="13716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4152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09872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03036" y="13716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67628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3348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(0–1)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06512" y="13716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1104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16824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09988" y="13716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74580" y="1371600"/>
            <a:ext cx="1757172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020300" y="1371600"/>
            <a:ext cx="1665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+ LSTM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74552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  <a:gridCol w="4782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decision trees vote; the average vote is the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patterns from sequences of past weeks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(Python)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(Python)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history (3–6 months of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history (6+ months of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fast, handles missing data well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time-based trends and seasonality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53492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9F5F1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53492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</a:t>
            </a:r>
            <a:pPr indent="0" marL="0">
              <a:buNone/>
            </a:pPr>
            <a:r>
              <a:rPr lang="en-US" sz="1150" dirty="0">
                <a:solidFill>
                  <a:srgbClr val="22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picks Random Forest or LSTM based on how much history that salesman has. New salesmen (under 3 months of data) get a generic industry-average prediction until enough personal data builds up.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RELIABILITY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Reliability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D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crashes silently — every error is caught, logged, and shown as a friendly message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codes (e.g. “API-001” network failure) make troubleshooting easier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server responses time out after 15–30s instead of freezing the app, with a retry option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recovery screen and non-intrusive toast notifications guide the 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Future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378440" y="14356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378440" y="143560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801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1801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what each customer needs next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67004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596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5968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visit order to minimize travel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46557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3924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3392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orders or off-hours bookings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26110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1879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Suggestions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187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products from similar customers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50566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5056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983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Forecasting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batches nearing expiry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&amp; Lessons Learned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443484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layers — company key, password, authenticator, biometrics, GPS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offline-first codebase with cloud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look — dual themes, animations, 3D illustrations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sales workflow — orders, plans, dashboards,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app running on both Android and 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app serving multiple pharma companies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3640" y="182880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FBF3E4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20574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6B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phone and server — solved with safe, all-or-nothing sync batches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6B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 in crowded urban areas — added adjustable precision and geofence radius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6B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Mixed-up coordinates in old company data — auto-detects and swaps reversed lat/long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6B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codes slightly out of sync — accept codes within a ±30-second window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108960" cy="31089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175766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7576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sales automation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4684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2C3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1810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05181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70404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97836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&amp; forecasting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00728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2C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7854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927854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6448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3880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web 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6772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2C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3898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03898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22492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9924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&amp; expiry alerts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52816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2C3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8679942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67994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98536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25968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928860" y="1417320"/>
            <a:ext cx="1711452" cy="1737360"/>
          </a:xfrm>
          <a:prstGeom prst="roundRect">
            <a:avLst>
              <a:gd name="adj" fmla="val 4274"/>
            </a:avLst>
          </a:prstGeom>
          <a:solidFill>
            <a:srgbClr val="2C3A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55986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1055598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74580" y="2130552"/>
            <a:ext cx="1620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02012" y="2404872"/>
            <a:ext cx="1565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self-order portal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20440"/>
            <a:ext cx="11091672" cy="0"/>
          </a:xfrm>
          <a:prstGeom prst="line">
            <a:avLst/>
          </a:prstGeom>
          <a:noFill/>
          <a:ln w="12700">
            <a:solidFill>
              <a:srgbClr val="3B4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794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Obaid Ur Rehman  ·  Asim Bashir  ·  Farheen Azhar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Hafiz Ahsan Arshad   ·   Co-Supervisor: Awais Amin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 — Smart Salesmen Tracking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2026-07-27T06:42:28Z</dcterms:created>
  <dcterms:modified xsi:type="dcterms:W3CDTF">2026-07-27T06:42:28Z</dcterms:modified>
</cp:coreProperties>
</file>